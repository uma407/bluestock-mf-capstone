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72" autoAdjust="0"/>
    <p:restoredTop sz="94660"/>
  </p:normalViewPr>
  <p:slideViewPr>
    <p:cSldViewPr snapToGrid="0">
      <p:cViewPr varScale="1">
        <p:scale>
          <a:sx n="74" d="100"/>
          <a:sy n="74" d="100"/>
        </p:scale>
        <p:origin x="22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59B989-5D78-462F-8B44-77FF84AEE9ED}" type="datetimeFigureOut">
              <a:rPr lang="en-US" smtClean="0"/>
              <a:t>6/12/2026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0BBF6C07-FD65-486C-9D75-5EF6A5D60A4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7844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59B989-5D78-462F-8B44-77FF84AEE9ED}"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F6C07-FD65-486C-9D75-5EF6A5D60A4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1087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59B989-5D78-462F-8B44-77FF84AEE9ED}"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F6C07-FD65-486C-9D75-5EF6A5D60A4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0963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59B989-5D78-462F-8B44-77FF84AEE9ED}"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BF6C07-FD65-486C-9D75-5EF6A5D60A4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73950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59B989-5D78-462F-8B44-77FF84AEE9ED}"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BF6C07-FD65-486C-9D75-5EF6A5D60A4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91986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59B989-5D78-462F-8B44-77FF84AEE9ED}"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BF6C07-FD65-486C-9D75-5EF6A5D60A4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9305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59B989-5D78-462F-8B44-77FF84AEE9ED}"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BF6C07-FD65-486C-9D75-5EF6A5D60A47}" type="slidenum">
              <a:rPr lang="en-US" smtClean="0"/>
              <a:t>‹#›</a:t>
            </a:fld>
            <a:endParaRPr lang="en-US"/>
          </a:p>
        </p:txBody>
      </p:sp>
    </p:spTree>
    <p:extLst>
      <p:ext uri="{BB962C8B-B14F-4D97-AF65-F5344CB8AC3E}">
        <p14:creationId xmlns:p14="http://schemas.microsoft.com/office/powerpoint/2010/main" val="3124896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59B989-5D78-462F-8B44-77FF84AEE9ED}"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BF6C07-FD65-486C-9D75-5EF6A5D60A4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78291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659B989-5D78-462F-8B44-77FF84AEE9ED}" type="datetimeFigureOut">
              <a:rPr lang="en-US" smtClean="0"/>
              <a:t>6/12/2026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0BBF6C07-FD65-486C-9D75-5EF6A5D60A4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3971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59B989-5D78-462F-8B44-77FF84AEE9ED}"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F6C07-FD65-486C-9D75-5EF6A5D60A4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85912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59B989-5D78-462F-8B44-77FF84AEE9ED}"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BF6C07-FD65-486C-9D75-5EF6A5D60A4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17408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659B989-5D78-462F-8B44-77FF84AEE9ED}" type="datetimeFigureOut">
              <a:rPr lang="en-US" smtClean="0"/>
              <a:t>6/12/2026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BBF6C07-FD65-486C-9D75-5EF6A5D60A4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04215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095B41-7312-4603-9F0F-93387C353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a:extLst>
              <a:ext uri="{FF2B5EF4-FFF2-40B4-BE49-F238E27FC236}">
                <a16:creationId xmlns:a16="http://schemas.microsoft.com/office/drawing/2014/main" id="{335FA047-B9FA-1700-E07C-C78C34BE51A0}"/>
              </a:ext>
            </a:extLst>
          </p:cNvPr>
          <p:cNvPicPr>
            <a:picLocks noChangeAspect="1"/>
          </p:cNvPicPr>
          <p:nvPr/>
        </p:nvPicPr>
        <p:blipFill>
          <a:blip r:embed="rId2">
            <a:duotone>
              <a:schemeClr val="bg2">
                <a:shade val="45000"/>
                <a:satMod val="135000"/>
              </a:schemeClr>
              <a:prstClr val="white"/>
            </a:duotone>
            <a:alphaModFix amt="50000"/>
          </a:blip>
          <a:srcRect t="3980" r="-1" b="6017"/>
          <a:stretch>
            <a:fillRect/>
          </a:stretch>
        </p:blipFill>
        <p:spPr>
          <a:xfrm>
            <a:off x="305" y="10"/>
            <a:ext cx="12191695" cy="6857990"/>
          </a:xfrm>
          <a:prstGeom prst="rect">
            <a:avLst/>
          </a:prstGeom>
        </p:spPr>
      </p:pic>
      <p:sp>
        <p:nvSpPr>
          <p:cNvPr id="11" name="Rectangle 10">
            <a:extLst>
              <a:ext uri="{FF2B5EF4-FFF2-40B4-BE49-F238E27FC236}">
                <a16:creationId xmlns:a16="http://schemas.microsoft.com/office/drawing/2014/main" id="{1042C936-444C-4F0D-9737-291EAFE1E7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95C505-A5D8-2030-D075-9D271E476B9F}"/>
              </a:ext>
            </a:extLst>
          </p:cNvPr>
          <p:cNvSpPr>
            <a:spLocks noGrp="1"/>
          </p:cNvSpPr>
          <p:nvPr>
            <p:ph type="ctrTitle"/>
          </p:nvPr>
        </p:nvSpPr>
        <p:spPr>
          <a:xfrm>
            <a:off x="2417779" y="802298"/>
            <a:ext cx="8637073" cy="2541431"/>
          </a:xfrm>
        </p:spPr>
        <p:txBody>
          <a:bodyPr>
            <a:normAutofit/>
          </a:bodyPr>
          <a:lstStyle/>
          <a:p>
            <a:br>
              <a:rPr lang="en-US" sz="1700" b="1"/>
            </a:br>
            <a:br>
              <a:rPr lang="en-US" sz="1700" b="1"/>
            </a:br>
            <a:br>
              <a:rPr lang="en-US" sz="1700" b="1"/>
            </a:br>
            <a:br>
              <a:rPr lang="en-US" sz="1700" b="1"/>
            </a:br>
            <a:br>
              <a:rPr lang="en-US" sz="1700" b="1"/>
            </a:br>
            <a:r>
              <a:rPr lang="en-US" sz="1700" b="1"/>
              <a:t>Mutual Fund Analytics Platform</a:t>
            </a:r>
            <a:br>
              <a:rPr lang="en-US" sz="1700"/>
            </a:br>
            <a:r>
              <a:rPr lang="en-US" sz="1700" b="1" err="1"/>
              <a:t>Bluestock</a:t>
            </a:r>
            <a:r>
              <a:rPr lang="en-US" sz="1700" b="1"/>
              <a:t> Fintech Pvt. Ltd.</a:t>
            </a:r>
            <a:br>
              <a:rPr lang="en-US" sz="1700"/>
            </a:br>
            <a:r>
              <a:rPr lang="en-US" sz="1700"/>
              <a:t>Data Analyst Internship Capstone Project</a:t>
            </a:r>
            <a:br>
              <a:rPr lang="en-US" sz="1700"/>
            </a:br>
            <a:br>
              <a:rPr lang="en-US" sz="1700"/>
            </a:br>
            <a:endParaRPr lang="en-US" sz="1700"/>
          </a:p>
        </p:txBody>
      </p:sp>
      <p:sp>
        <p:nvSpPr>
          <p:cNvPr id="3" name="Subtitle 2">
            <a:extLst>
              <a:ext uri="{FF2B5EF4-FFF2-40B4-BE49-F238E27FC236}">
                <a16:creationId xmlns:a16="http://schemas.microsoft.com/office/drawing/2014/main" id="{5838C14B-62CD-187C-263A-219057D5E565}"/>
              </a:ext>
            </a:extLst>
          </p:cNvPr>
          <p:cNvSpPr>
            <a:spLocks noGrp="1"/>
          </p:cNvSpPr>
          <p:nvPr>
            <p:ph type="subTitle" idx="1"/>
          </p:nvPr>
        </p:nvSpPr>
        <p:spPr>
          <a:xfrm>
            <a:off x="2417780" y="3531204"/>
            <a:ext cx="8637072" cy="977621"/>
          </a:xfrm>
        </p:spPr>
        <p:txBody>
          <a:bodyPr>
            <a:normAutofit/>
          </a:bodyPr>
          <a:lstStyle/>
          <a:p>
            <a:r>
              <a:rPr lang="en-US" b="1" dirty="0"/>
              <a:t>Prepared By:</a:t>
            </a:r>
            <a:br>
              <a:rPr lang="en-US" dirty="0"/>
            </a:br>
            <a:r>
              <a:rPr lang="en-US" dirty="0"/>
              <a:t>Boppana Uma Maheswari</a:t>
            </a:r>
          </a:p>
        </p:txBody>
      </p:sp>
      <p:cxnSp>
        <p:nvCxnSpPr>
          <p:cNvPr id="13" name="Straight Connector 12">
            <a:extLst>
              <a:ext uri="{FF2B5EF4-FFF2-40B4-BE49-F238E27FC236}">
                <a16:creationId xmlns:a16="http://schemas.microsoft.com/office/drawing/2014/main" id="{B61C4D9F-F4AF-4ED2-9310-56EB2E19C08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3"/>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15" name="Picture 14">
            <a:extLst>
              <a:ext uri="{FF2B5EF4-FFF2-40B4-BE49-F238E27FC236}">
                <a16:creationId xmlns:a16="http://schemas.microsoft.com/office/drawing/2014/main" id="{419FDB25-3050-4009-9806-3000DDD1C08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7" name="Straight Connector 16">
            <a:extLst>
              <a:ext uri="{FF2B5EF4-FFF2-40B4-BE49-F238E27FC236}">
                <a16:creationId xmlns:a16="http://schemas.microsoft.com/office/drawing/2014/main" id="{8063EF0F-7BC0-4CFB-AB98-20A8DD91D7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0911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1E744-5BB1-107B-98D0-6B292F040AAB}"/>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12547100-6D88-090D-0330-7FD7A33A2302}"/>
              </a:ext>
            </a:extLst>
          </p:cNvPr>
          <p:cNvSpPr>
            <a:spLocks noGrp="1"/>
          </p:cNvSpPr>
          <p:nvPr>
            <p:ph idx="1"/>
          </p:nvPr>
        </p:nvSpPr>
        <p:spPr/>
        <p:txBody>
          <a:bodyPr/>
          <a:lstStyle/>
          <a:p>
            <a:r>
              <a:rPr lang="en-US" b="1" dirty="0"/>
              <a:t>Problem Statement</a:t>
            </a:r>
            <a:endParaRPr lang="en-US" dirty="0"/>
          </a:p>
          <a:p>
            <a:r>
              <a:rPr lang="en-US" dirty="0"/>
              <a:t>Mutual fund data is distributed across multiple sources. </a:t>
            </a:r>
          </a:p>
          <a:p>
            <a:r>
              <a:rPr lang="en-US" dirty="0"/>
              <a:t>Investors need insights into fund performance, risk, and returns. </a:t>
            </a:r>
          </a:p>
          <a:p>
            <a:r>
              <a:rPr lang="en-US" dirty="0"/>
              <a:t>Manual analysis of large financial datasets is difficult. </a:t>
            </a:r>
          </a:p>
          <a:p>
            <a:r>
              <a:rPr lang="en-US" dirty="0"/>
              <a:t>A centralized analytics platform is required for better decision-making. </a:t>
            </a:r>
          </a:p>
          <a:p>
            <a:r>
              <a:rPr lang="en-US" b="1" dirty="0"/>
              <a:t>Goal:</a:t>
            </a:r>
            <a:br>
              <a:rPr lang="en-US" dirty="0"/>
            </a:br>
            <a:r>
              <a:rPr lang="en-US" dirty="0"/>
              <a:t>Build a complete Mutual Fund Analytics Platform using real mutual fund datasets.</a:t>
            </a:r>
          </a:p>
          <a:p>
            <a:endParaRPr lang="en-US" dirty="0"/>
          </a:p>
        </p:txBody>
      </p:sp>
    </p:spTree>
    <p:extLst>
      <p:ext uri="{BB962C8B-B14F-4D97-AF65-F5344CB8AC3E}">
        <p14:creationId xmlns:p14="http://schemas.microsoft.com/office/powerpoint/2010/main" val="741633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E8B59-FE6F-0306-6355-BF0680DECBE0}"/>
              </a:ext>
            </a:extLst>
          </p:cNvPr>
          <p:cNvSpPr>
            <a:spLocks noGrp="1"/>
          </p:cNvSpPr>
          <p:nvPr>
            <p:ph type="title"/>
          </p:nvPr>
        </p:nvSpPr>
        <p:spPr/>
        <p:txBody>
          <a:bodyPr/>
          <a:lstStyle/>
          <a:p>
            <a:r>
              <a:rPr lang="en-US" dirty="0"/>
              <a:t>Project Objectives</a:t>
            </a:r>
          </a:p>
        </p:txBody>
      </p:sp>
      <p:sp>
        <p:nvSpPr>
          <p:cNvPr id="3" name="Content Placeholder 2">
            <a:extLst>
              <a:ext uri="{FF2B5EF4-FFF2-40B4-BE49-F238E27FC236}">
                <a16:creationId xmlns:a16="http://schemas.microsoft.com/office/drawing/2014/main" id="{9643188B-9304-45E5-EE3E-BC8D53BAB338}"/>
              </a:ext>
            </a:extLst>
          </p:cNvPr>
          <p:cNvSpPr>
            <a:spLocks noGrp="1"/>
          </p:cNvSpPr>
          <p:nvPr>
            <p:ph idx="1"/>
          </p:nvPr>
        </p:nvSpPr>
        <p:spPr/>
        <p:txBody>
          <a:bodyPr>
            <a:normAutofit fontScale="92500" lnSpcReduction="20000"/>
          </a:bodyPr>
          <a:lstStyle/>
          <a:p>
            <a:r>
              <a:rPr lang="en-US" dirty="0"/>
              <a:t>Build an automated ETL pipeline. </a:t>
            </a:r>
          </a:p>
          <a:p>
            <a:r>
              <a:rPr lang="en-US" dirty="0"/>
              <a:t>Create a normalized database schema. </a:t>
            </a:r>
          </a:p>
          <a:p>
            <a:r>
              <a:rPr lang="en-US" dirty="0"/>
              <a:t>Perform exploratory data analysis.</a:t>
            </a:r>
          </a:p>
          <a:p>
            <a:r>
              <a:rPr lang="en-US" dirty="0"/>
              <a:t> Calculate fund performance metrics. </a:t>
            </a:r>
          </a:p>
          <a:p>
            <a:r>
              <a:rPr lang="en-US" dirty="0"/>
              <a:t>Analyze investor transaction behavior. </a:t>
            </a:r>
          </a:p>
          <a:p>
            <a:r>
              <a:rPr lang="en-US" dirty="0"/>
              <a:t>Develop advanced risk analytics. </a:t>
            </a:r>
          </a:p>
          <a:p>
            <a:r>
              <a:rPr lang="en-US" dirty="0"/>
              <a:t>Create an interactive Power BI dashboard. </a:t>
            </a:r>
          </a:p>
          <a:p>
            <a:r>
              <a:rPr lang="en-US" dirty="0"/>
              <a:t>Generate actionable business insights.</a:t>
            </a:r>
          </a:p>
        </p:txBody>
      </p:sp>
    </p:spTree>
    <p:extLst>
      <p:ext uri="{BB962C8B-B14F-4D97-AF65-F5344CB8AC3E}">
        <p14:creationId xmlns:p14="http://schemas.microsoft.com/office/powerpoint/2010/main" val="1266822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C6589-E245-2214-43A7-3CA3E9A939FA}"/>
              </a:ext>
            </a:extLst>
          </p:cNvPr>
          <p:cNvSpPr>
            <a:spLocks noGrp="1"/>
          </p:cNvSpPr>
          <p:nvPr>
            <p:ph type="title"/>
          </p:nvPr>
        </p:nvSpPr>
        <p:spPr>
          <a:xfrm>
            <a:off x="1451579" y="804520"/>
            <a:ext cx="9603275" cy="587136"/>
          </a:xfrm>
        </p:spPr>
        <p:txBody>
          <a:bodyPr/>
          <a:lstStyle/>
          <a:p>
            <a:r>
              <a:rPr lang="en-US" dirty="0"/>
              <a:t>Data Sources</a:t>
            </a:r>
          </a:p>
        </p:txBody>
      </p:sp>
      <p:sp>
        <p:nvSpPr>
          <p:cNvPr id="3" name="Content Placeholder 2">
            <a:extLst>
              <a:ext uri="{FF2B5EF4-FFF2-40B4-BE49-F238E27FC236}">
                <a16:creationId xmlns:a16="http://schemas.microsoft.com/office/drawing/2014/main" id="{28717C29-D991-7C90-A017-8B0AABDBCB68}"/>
              </a:ext>
            </a:extLst>
          </p:cNvPr>
          <p:cNvSpPr>
            <a:spLocks noGrp="1"/>
          </p:cNvSpPr>
          <p:nvPr>
            <p:ph idx="1"/>
          </p:nvPr>
        </p:nvSpPr>
        <p:spPr>
          <a:xfrm>
            <a:off x="1451579" y="1876926"/>
            <a:ext cx="10435620" cy="3994486"/>
          </a:xfrm>
        </p:spPr>
        <p:txBody>
          <a:bodyPr>
            <a:normAutofit fontScale="55000" lnSpcReduction="20000"/>
          </a:bodyPr>
          <a:lstStyle/>
          <a:p>
            <a:r>
              <a:rPr lang="en-US" b="1" dirty="0"/>
              <a:t>Datasets Used</a:t>
            </a:r>
            <a:endParaRPr lang="en-US" dirty="0"/>
          </a:p>
          <a:p>
            <a:r>
              <a:rPr lang="en-US" dirty="0"/>
              <a:t>Fund Master Data </a:t>
            </a:r>
          </a:p>
          <a:p>
            <a:r>
              <a:rPr lang="en-US" dirty="0"/>
              <a:t>NAV History Data </a:t>
            </a:r>
          </a:p>
          <a:p>
            <a:r>
              <a:rPr lang="en-US" dirty="0"/>
              <a:t>AUM by Fund House </a:t>
            </a:r>
          </a:p>
          <a:p>
            <a:r>
              <a:rPr lang="en-US" dirty="0"/>
              <a:t>Monthly SIP Inflows </a:t>
            </a:r>
          </a:p>
          <a:p>
            <a:r>
              <a:rPr lang="en-US" dirty="0"/>
              <a:t>Category Inflows </a:t>
            </a:r>
          </a:p>
          <a:p>
            <a:r>
              <a:rPr lang="en-US" dirty="0"/>
              <a:t>Industry Folio Count </a:t>
            </a:r>
          </a:p>
          <a:p>
            <a:r>
              <a:rPr lang="en-US" dirty="0"/>
              <a:t>Scheme Performance Data </a:t>
            </a:r>
          </a:p>
          <a:p>
            <a:r>
              <a:rPr lang="en-US" dirty="0"/>
              <a:t>Investor Transactions </a:t>
            </a:r>
          </a:p>
          <a:p>
            <a:r>
              <a:rPr lang="en-US" dirty="0"/>
              <a:t>Portfolio Holdings </a:t>
            </a:r>
          </a:p>
          <a:p>
            <a:r>
              <a:rPr lang="en-US" dirty="0"/>
              <a:t>Benchmark Indices </a:t>
            </a:r>
          </a:p>
          <a:p>
            <a:r>
              <a:rPr lang="en-US" b="1" dirty="0"/>
              <a:t>Sources:</a:t>
            </a:r>
            <a:br>
              <a:rPr lang="en-US" dirty="0"/>
            </a:br>
            <a:r>
              <a:rPr lang="en-US" dirty="0"/>
              <a:t>AMFI India, mfapi.in, Public Market Data</a:t>
            </a:r>
          </a:p>
          <a:p>
            <a:endParaRPr lang="en-US" dirty="0"/>
          </a:p>
        </p:txBody>
      </p:sp>
    </p:spTree>
    <p:extLst>
      <p:ext uri="{BB962C8B-B14F-4D97-AF65-F5344CB8AC3E}">
        <p14:creationId xmlns:p14="http://schemas.microsoft.com/office/powerpoint/2010/main" val="622864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EAE6F-083E-C187-0A6D-CC7D4C9036A1}"/>
              </a:ext>
            </a:extLst>
          </p:cNvPr>
          <p:cNvSpPr>
            <a:spLocks noGrp="1"/>
          </p:cNvSpPr>
          <p:nvPr>
            <p:ph type="title"/>
          </p:nvPr>
        </p:nvSpPr>
        <p:spPr/>
        <p:txBody>
          <a:bodyPr/>
          <a:lstStyle/>
          <a:p>
            <a:r>
              <a:rPr lang="en-US" dirty="0"/>
              <a:t>ETL Architecture</a:t>
            </a:r>
          </a:p>
        </p:txBody>
      </p:sp>
      <p:sp>
        <p:nvSpPr>
          <p:cNvPr id="3" name="Content Placeholder 2">
            <a:extLst>
              <a:ext uri="{FF2B5EF4-FFF2-40B4-BE49-F238E27FC236}">
                <a16:creationId xmlns:a16="http://schemas.microsoft.com/office/drawing/2014/main" id="{E3948C96-88D5-04F9-CBF3-85E401121DEF}"/>
              </a:ext>
            </a:extLst>
          </p:cNvPr>
          <p:cNvSpPr>
            <a:spLocks noGrp="1"/>
          </p:cNvSpPr>
          <p:nvPr>
            <p:ph idx="1"/>
          </p:nvPr>
        </p:nvSpPr>
        <p:spPr>
          <a:xfrm>
            <a:off x="1380226" y="1406106"/>
            <a:ext cx="9674628" cy="4060239"/>
          </a:xfrm>
        </p:spPr>
        <p:txBody>
          <a:bodyPr>
            <a:normAutofit/>
          </a:bodyPr>
          <a:lstStyle/>
          <a:p>
            <a:r>
              <a:rPr lang="en-US" b="1" dirty="0"/>
              <a:t>ETL Workflow</a:t>
            </a:r>
            <a:endParaRPr lang="en-US" dirty="0"/>
          </a:p>
          <a:p>
            <a:pPr marL="3657600" lvl="8" indent="0">
              <a:buNone/>
            </a:pPr>
            <a:r>
              <a:rPr lang="en-US" sz="1800" dirty="0"/>
              <a:t>Extract</a:t>
            </a:r>
          </a:p>
          <a:p>
            <a:pPr marL="3657600" lvl="8" indent="0">
              <a:buNone/>
            </a:pPr>
            <a:r>
              <a:rPr lang="en-US" sz="1800" dirty="0"/>
              <a:t>   ↓</a:t>
            </a:r>
          </a:p>
          <a:p>
            <a:pPr marL="3657600" lvl="8" indent="0">
              <a:buNone/>
            </a:pPr>
            <a:r>
              <a:rPr lang="en-US" sz="1800" dirty="0"/>
              <a:t>Transform                                                   </a:t>
            </a:r>
          </a:p>
          <a:p>
            <a:pPr marL="3657600" lvl="8" indent="0">
              <a:buNone/>
            </a:pPr>
            <a:r>
              <a:rPr lang="en-US" sz="1800" dirty="0"/>
              <a:t>   ↓</a:t>
            </a:r>
          </a:p>
          <a:p>
            <a:pPr marL="3657600" lvl="8" indent="0">
              <a:buNone/>
            </a:pPr>
            <a:r>
              <a:rPr lang="en-US" sz="1800" dirty="0"/>
              <a:t>Load</a:t>
            </a:r>
          </a:p>
          <a:p>
            <a:pPr marL="3657600" lvl="8" indent="0">
              <a:buNone/>
            </a:pPr>
            <a:r>
              <a:rPr lang="en-US" sz="1800" dirty="0"/>
              <a:t>   ↓</a:t>
            </a:r>
          </a:p>
          <a:p>
            <a:pPr marL="3657600" lvl="8" indent="0">
              <a:buNone/>
            </a:pPr>
            <a:r>
              <a:rPr lang="en-US" sz="1800" dirty="0"/>
              <a:t>Analytics</a:t>
            </a:r>
          </a:p>
          <a:p>
            <a:pPr marL="3657600" lvl="8" indent="0">
              <a:buNone/>
            </a:pPr>
            <a:r>
              <a:rPr lang="en-US" sz="1800" dirty="0"/>
              <a:t>   ↓</a:t>
            </a:r>
          </a:p>
          <a:p>
            <a:pPr marL="3657600" lvl="8" indent="0">
              <a:buNone/>
            </a:pPr>
            <a:r>
              <a:rPr lang="en-US" sz="1800" dirty="0"/>
              <a:t>Dashboard</a:t>
            </a:r>
          </a:p>
        </p:txBody>
      </p:sp>
    </p:spTree>
    <p:extLst>
      <p:ext uri="{BB962C8B-B14F-4D97-AF65-F5344CB8AC3E}">
        <p14:creationId xmlns:p14="http://schemas.microsoft.com/office/powerpoint/2010/main" val="507153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9E7D8-B823-93C5-6B38-5EA44307F97C}"/>
              </a:ext>
            </a:extLst>
          </p:cNvPr>
          <p:cNvSpPr>
            <a:spLocks noGrp="1"/>
          </p:cNvSpPr>
          <p:nvPr>
            <p:ph type="title"/>
          </p:nvPr>
        </p:nvSpPr>
        <p:spPr/>
        <p:txBody>
          <a:bodyPr/>
          <a:lstStyle/>
          <a:p>
            <a:r>
              <a:rPr lang="en-US" dirty="0"/>
              <a:t>Exploratory Data Analysis (EDA)</a:t>
            </a:r>
          </a:p>
        </p:txBody>
      </p:sp>
      <p:sp>
        <p:nvSpPr>
          <p:cNvPr id="3" name="Content Placeholder 2">
            <a:extLst>
              <a:ext uri="{FF2B5EF4-FFF2-40B4-BE49-F238E27FC236}">
                <a16:creationId xmlns:a16="http://schemas.microsoft.com/office/drawing/2014/main" id="{A69DEC5E-C83B-761A-D54F-FBF758376470}"/>
              </a:ext>
            </a:extLst>
          </p:cNvPr>
          <p:cNvSpPr>
            <a:spLocks noGrp="1"/>
          </p:cNvSpPr>
          <p:nvPr>
            <p:ph idx="1"/>
          </p:nvPr>
        </p:nvSpPr>
        <p:spPr/>
        <p:txBody>
          <a:bodyPr>
            <a:normAutofit fontScale="85000" lnSpcReduction="20000"/>
          </a:bodyPr>
          <a:lstStyle/>
          <a:p>
            <a:r>
              <a:rPr lang="en-US" b="1" dirty="0"/>
              <a:t>EDA Highlights</a:t>
            </a:r>
            <a:endParaRPr lang="en-US" dirty="0"/>
          </a:p>
          <a:p>
            <a:r>
              <a:rPr lang="en-US" dirty="0"/>
              <a:t>Industry AUM growth analysis. </a:t>
            </a:r>
          </a:p>
          <a:p>
            <a:r>
              <a:rPr lang="en-US" dirty="0"/>
              <a:t>SIP inflow trend analysis. </a:t>
            </a:r>
          </a:p>
          <a:p>
            <a:r>
              <a:rPr lang="en-US" dirty="0"/>
              <a:t>Category-wise fund inflows. </a:t>
            </a:r>
          </a:p>
          <a:p>
            <a:r>
              <a:rPr lang="en-US" dirty="0"/>
              <a:t>Folio growth trends. </a:t>
            </a:r>
          </a:p>
          <a:p>
            <a:r>
              <a:rPr lang="en-US" dirty="0"/>
              <a:t>Fund house comparison. </a:t>
            </a:r>
          </a:p>
          <a:p>
            <a:r>
              <a:rPr lang="en-US" dirty="0"/>
              <a:t>Risk vs Return analysis. </a:t>
            </a:r>
          </a:p>
          <a:p>
            <a:r>
              <a:rPr lang="en-US" b="1" dirty="0"/>
              <a:t>Key Finding</a:t>
            </a:r>
            <a:endParaRPr lang="en-US" dirty="0"/>
          </a:p>
          <a:p>
            <a:r>
              <a:rPr lang="en-US" dirty="0"/>
              <a:t>Industry AUM and SIP inflows showed strong growth between 2022 and 2025.</a:t>
            </a:r>
          </a:p>
          <a:p>
            <a:endParaRPr lang="en-US" dirty="0"/>
          </a:p>
        </p:txBody>
      </p:sp>
    </p:spTree>
    <p:extLst>
      <p:ext uri="{BB962C8B-B14F-4D97-AF65-F5344CB8AC3E}">
        <p14:creationId xmlns:p14="http://schemas.microsoft.com/office/powerpoint/2010/main" val="3260008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3A524-D9FC-D208-DBED-B9C464D33585}"/>
              </a:ext>
            </a:extLst>
          </p:cNvPr>
          <p:cNvSpPr>
            <a:spLocks noGrp="1"/>
          </p:cNvSpPr>
          <p:nvPr>
            <p:ph type="title"/>
          </p:nvPr>
        </p:nvSpPr>
        <p:spPr/>
        <p:txBody>
          <a:bodyPr/>
          <a:lstStyle/>
          <a:p>
            <a:r>
              <a:rPr lang="en-US" dirty="0"/>
              <a:t>Investor Analytics</a:t>
            </a:r>
          </a:p>
        </p:txBody>
      </p:sp>
      <p:sp>
        <p:nvSpPr>
          <p:cNvPr id="3" name="Content Placeholder 2">
            <a:extLst>
              <a:ext uri="{FF2B5EF4-FFF2-40B4-BE49-F238E27FC236}">
                <a16:creationId xmlns:a16="http://schemas.microsoft.com/office/drawing/2014/main" id="{A6E9ED87-FE41-68FA-86DD-50F3CEFEBE58}"/>
              </a:ext>
            </a:extLst>
          </p:cNvPr>
          <p:cNvSpPr>
            <a:spLocks noGrp="1"/>
          </p:cNvSpPr>
          <p:nvPr>
            <p:ph idx="1"/>
          </p:nvPr>
        </p:nvSpPr>
        <p:spPr/>
        <p:txBody>
          <a:bodyPr>
            <a:normAutofit fontScale="92500" lnSpcReduction="20000"/>
          </a:bodyPr>
          <a:lstStyle/>
          <a:p>
            <a:r>
              <a:rPr lang="en-US" b="1" dirty="0"/>
              <a:t>Investor Behavior Analysis</a:t>
            </a:r>
            <a:endParaRPr lang="en-US" dirty="0"/>
          </a:p>
          <a:p>
            <a:r>
              <a:rPr lang="en-US" dirty="0"/>
              <a:t>State-wise transaction distribution. </a:t>
            </a:r>
          </a:p>
          <a:p>
            <a:r>
              <a:rPr lang="en-US" dirty="0"/>
              <a:t>Age-group investment patterns. </a:t>
            </a:r>
          </a:p>
          <a:p>
            <a:r>
              <a:rPr lang="en-US" dirty="0"/>
              <a:t>SIP vs Lumpsum contribution. </a:t>
            </a:r>
          </a:p>
          <a:p>
            <a:r>
              <a:rPr lang="en-US" dirty="0"/>
              <a:t>Monthly transaction trends. </a:t>
            </a:r>
          </a:p>
          <a:p>
            <a:r>
              <a:rPr lang="en-US" dirty="0"/>
              <a:t>Investor demographics. </a:t>
            </a:r>
          </a:p>
          <a:p>
            <a:r>
              <a:rPr lang="en-US" b="1" dirty="0"/>
              <a:t>Key Finding</a:t>
            </a:r>
            <a:endParaRPr lang="en-US" dirty="0"/>
          </a:p>
          <a:p>
            <a:r>
              <a:rPr lang="en-US" dirty="0"/>
              <a:t>Investor participation increased significantly across multiple states and age groups.</a:t>
            </a:r>
          </a:p>
          <a:p>
            <a:endParaRPr lang="en-US" dirty="0"/>
          </a:p>
        </p:txBody>
      </p:sp>
    </p:spTree>
    <p:extLst>
      <p:ext uri="{BB962C8B-B14F-4D97-AF65-F5344CB8AC3E}">
        <p14:creationId xmlns:p14="http://schemas.microsoft.com/office/powerpoint/2010/main" val="3679719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9437D-A8E0-4D32-7B56-6A132B37EE3B}"/>
              </a:ext>
            </a:extLst>
          </p:cNvPr>
          <p:cNvSpPr>
            <a:spLocks noGrp="1"/>
          </p:cNvSpPr>
          <p:nvPr>
            <p:ph type="title"/>
          </p:nvPr>
        </p:nvSpPr>
        <p:spPr/>
        <p:txBody>
          <a:bodyPr/>
          <a:lstStyle/>
          <a:p>
            <a:r>
              <a:rPr lang="en-US" dirty="0"/>
              <a:t>Performance Analytics</a:t>
            </a:r>
          </a:p>
        </p:txBody>
      </p:sp>
      <p:sp>
        <p:nvSpPr>
          <p:cNvPr id="3" name="Content Placeholder 2">
            <a:extLst>
              <a:ext uri="{FF2B5EF4-FFF2-40B4-BE49-F238E27FC236}">
                <a16:creationId xmlns:a16="http://schemas.microsoft.com/office/drawing/2014/main" id="{6020C70D-0416-F047-78ED-3A13BEAAD17D}"/>
              </a:ext>
            </a:extLst>
          </p:cNvPr>
          <p:cNvSpPr>
            <a:spLocks noGrp="1"/>
          </p:cNvSpPr>
          <p:nvPr>
            <p:ph idx="1"/>
          </p:nvPr>
        </p:nvSpPr>
        <p:spPr>
          <a:xfrm>
            <a:off x="1451579" y="1932318"/>
            <a:ext cx="9603275" cy="4037162"/>
          </a:xfrm>
        </p:spPr>
        <p:txBody>
          <a:bodyPr>
            <a:normAutofit fontScale="70000" lnSpcReduction="20000"/>
          </a:bodyPr>
          <a:lstStyle/>
          <a:p>
            <a:r>
              <a:rPr lang="en-US" b="1" dirty="0"/>
              <a:t>Metrics Calculated</a:t>
            </a:r>
            <a:endParaRPr lang="en-US" dirty="0"/>
          </a:p>
          <a:p>
            <a:r>
              <a:rPr lang="en-US" dirty="0"/>
              <a:t>Daily Returns </a:t>
            </a:r>
          </a:p>
          <a:p>
            <a:r>
              <a:rPr lang="en-US" dirty="0"/>
              <a:t>CAGR (1Y, 3Y, 5Y) </a:t>
            </a:r>
          </a:p>
          <a:p>
            <a:r>
              <a:rPr lang="en-US" dirty="0"/>
              <a:t>Sharpe Ratio </a:t>
            </a:r>
          </a:p>
          <a:p>
            <a:r>
              <a:rPr lang="en-US" dirty="0"/>
              <a:t>Sortino Ratio </a:t>
            </a:r>
          </a:p>
          <a:p>
            <a:r>
              <a:rPr lang="en-US" dirty="0"/>
              <a:t>Alpha </a:t>
            </a:r>
          </a:p>
          <a:p>
            <a:r>
              <a:rPr lang="en-US" dirty="0"/>
              <a:t>Beta </a:t>
            </a:r>
          </a:p>
          <a:p>
            <a:r>
              <a:rPr lang="en-US" dirty="0"/>
              <a:t>Maximum Drawdown </a:t>
            </a:r>
          </a:p>
          <a:p>
            <a:r>
              <a:rPr lang="en-US" dirty="0"/>
              <a:t>Tracking Error </a:t>
            </a:r>
          </a:p>
          <a:p>
            <a:r>
              <a:rPr lang="en-US" b="1" dirty="0"/>
              <a:t>Key Finding</a:t>
            </a:r>
            <a:endParaRPr lang="en-US" dirty="0"/>
          </a:p>
          <a:p>
            <a:r>
              <a:rPr lang="en-US" dirty="0"/>
              <a:t>Moderate-risk funds delivered strong risk-adjusted returns.</a:t>
            </a:r>
          </a:p>
          <a:p>
            <a:endParaRPr lang="en-US" dirty="0"/>
          </a:p>
        </p:txBody>
      </p:sp>
    </p:spTree>
    <p:extLst>
      <p:ext uri="{BB962C8B-B14F-4D97-AF65-F5344CB8AC3E}">
        <p14:creationId xmlns:p14="http://schemas.microsoft.com/office/powerpoint/2010/main" val="1934389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1DB1F-1654-E137-C993-F4B246D3CF47}"/>
              </a:ext>
            </a:extLst>
          </p:cNvPr>
          <p:cNvSpPr>
            <a:spLocks noGrp="1"/>
          </p:cNvSpPr>
          <p:nvPr>
            <p:ph type="title"/>
          </p:nvPr>
        </p:nvSpPr>
        <p:spPr/>
        <p:txBody>
          <a:bodyPr/>
          <a:lstStyle/>
          <a:p>
            <a:r>
              <a:rPr lang="en-US" dirty="0"/>
              <a:t>Advanced Analytics</a:t>
            </a:r>
          </a:p>
        </p:txBody>
      </p:sp>
      <p:sp>
        <p:nvSpPr>
          <p:cNvPr id="3" name="Content Placeholder 2">
            <a:extLst>
              <a:ext uri="{FF2B5EF4-FFF2-40B4-BE49-F238E27FC236}">
                <a16:creationId xmlns:a16="http://schemas.microsoft.com/office/drawing/2014/main" id="{F931ECAC-E44F-1472-BB36-F0DED1BA5A26}"/>
              </a:ext>
            </a:extLst>
          </p:cNvPr>
          <p:cNvSpPr>
            <a:spLocks noGrp="1"/>
          </p:cNvSpPr>
          <p:nvPr>
            <p:ph idx="1"/>
          </p:nvPr>
        </p:nvSpPr>
        <p:spPr/>
        <p:txBody>
          <a:bodyPr>
            <a:normAutofit fontScale="85000" lnSpcReduction="20000"/>
          </a:bodyPr>
          <a:lstStyle/>
          <a:p>
            <a:r>
              <a:rPr lang="en-US" b="1" dirty="0"/>
              <a:t>Advanced Risk Metrics</a:t>
            </a:r>
            <a:endParaRPr lang="en-US" dirty="0"/>
          </a:p>
          <a:p>
            <a:r>
              <a:rPr lang="en-US" dirty="0"/>
              <a:t>Historical </a:t>
            </a:r>
            <a:r>
              <a:rPr lang="en-US" dirty="0" err="1"/>
              <a:t>VaR</a:t>
            </a:r>
            <a:r>
              <a:rPr lang="en-US" dirty="0"/>
              <a:t> (95%) </a:t>
            </a:r>
          </a:p>
          <a:p>
            <a:r>
              <a:rPr lang="en-US" dirty="0"/>
              <a:t>Conditional </a:t>
            </a:r>
            <a:r>
              <a:rPr lang="en-US" dirty="0" err="1"/>
              <a:t>VaR</a:t>
            </a:r>
            <a:r>
              <a:rPr lang="en-US" dirty="0"/>
              <a:t> (CVaR) </a:t>
            </a:r>
          </a:p>
          <a:p>
            <a:r>
              <a:rPr lang="en-US" dirty="0"/>
              <a:t>Rolling 90-Day Sharpe Ratio </a:t>
            </a:r>
          </a:p>
          <a:p>
            <a:r>
              <a:rPr lang="en-US" dirty="0"/>
              <a:t>Investor Cohort Analysis </a:t>
            </a:r>
          </a:p>
          <a:p>
            <a:r>
              <a:rPr lang="en-US" dirty="0"/>
              <a:t>SIP Continuity Analysis </a:t>
            </a:r>
          </a:p>
          <a:p>
            <a:r>
              <a:rPr lang="en-US" dirty="0"/>
              <a:t>Sector HHI Concentration </a:t>
            </a:r>
          </a:p>
          <a:p>
            <a:r>
              <a:rPr lang="en-US" b="1" dirty="0"/>
              <a:t>Fund Recommender</a:t>
            </a:r>
            <a:endParaRPr lang="en-US" dirty="0"/>
          </a:p>
          <a:p>
            <a:r>
              <a:rPr lang="en-US" dirty="0"/>
              <a:t>Top 3 funds recommended based on risk appetite and Sharpe Ratio.</a:t>
            </a:r>
          </a:p>
          <a:p>
            <a:endParaRPr lang="en-US" dirty="0"/>
          </a:p>
        </p:txBody>
      </p:sp>
    </p:spTree>
    <p:extLst>
      <p:ext uri="{BB962C8B-B14F-4D97-AF65-F5344CB8AC3E}">
        <p14:creationId xmlns:p14="http://schemas.microsoft.com/office/powerpoint/2010/main" val="892075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7ADE7-E0A1-F4BD-64BE-38031515F428}"/>
              </a:ext>
            </a:extLst>
          </p:cNvPr>
          <p:cNvSpPr>
            <a:spLocks noGrp="1"/>
          </p:cNvSpPr>
          <p:nvPr>
            <p:ph type="title"/>
          </p:nvPr>
        </p:nvSpPr>
        <p:spPr/>
        <p:txBody>
          <a:bodyPr/>
          <a:lstStyle/>
          <a:p>
            <a:r>
              <a:rPr lang="en-US" dirty="0"/>
              <a:t>Dashboard Overview</a:t>
            </a:r>
          </a:p>
        </p:txBody>
      </p:sp>
      <p:pic>
        <p:nvPicPr>
          <p:cNvPr id="13" name="Content Placeholder 12">
            <a:extLst>
              <a:ext uri="{FF2B5EF4-FFF2-40B4-BE49-F238E27FC236}">
                <a16:creationId xmlns:a16="http://schemas.microsoft.com/office/drawing/2014/main" id="{68D67268-7F14-F197-24E7-01912153D0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80" y="2073275"/>
            <a:ext cx="5642302" cy="3197465"/>
          </a:xfrm>
          <a:prstGeom prst="rect">
            <a:avLst/>
          </a:prstGeom>
        </p:spPr>
      </p:pic>
      <p:sp>
        <p:nvSpPr>
          <p:cNvPr id="14" name="TextBox 13">
            <a:extLst>
              <a:ext uri="{FF2B5EF4-FFF2-40B4-BE49-F238E27FC236}">
                <a16:creationId xmlns:a16="http://schemas.microsoft.com/office/drawing/2014/main" id="{36728802-68F2-66CE-1785-668155121A46}"/>
              </a:ext>
            </a:extLst>
          </p:cNvPr>
          <p:cNvSpPr txBox="1"/>
          <p:nvPr/>
        </p:nvSpPr>
        <p:spPr>
          <a:xfrm>
            <a:off x="1699404" y="5684808"/>
            <a:ext cx="2199736" cy="368673"/>
          </a:xfrm>
          <a:prstGeom prst="rect">
            <a:avLst/>
          </a:prstGeom>
          <a:noFill/>
        </p:spPr>
        <p:txBody>
          <a:bodyPr wrap="square" rtlCol="0">
            <a:spAutoFit/>
          </a:bodyPr>
          <a:lstStyle/>
          <a:p>
            <a:r>
              <a:rPr lang="en-US" dirty="0"/>
              <a:t>Page 1</a:t>
            </a:r>
          </a:p>
        </p:txBody>
      </p:sp>
      <p:pic>
        <p:nvPicPr>
          <p:cNvPr id="16" name="Picture 15">
            <a:extLst>
              <a:ext uri="{FF2B5EF4-FFF2-40B4-BE49-F238E27FC236}">
                <a16:creationId xmlns:a16="http://schemas.microsoft.com/office/drawing/2014/main" id="{9684D165-128B-72AA-BCEA-9780D41D1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7905" y="2073275"/>
            <a:ext cx="5382229" cy="3197464"/>
          </a:xfrm>
          <a:prstGeom prst="rect">
            <a:avLst/>
          </a:prstGeom>
        </p:spPr>
      </p:pic>
      <p:sp>
        <p:nvSpPr>
          <p:cNvPr id="17" name="TextBox 16">
            <a:extLst>
              <a:ext uri="{FF2B5EF4-FFF2-40B4-BE49-F238E27FC236}">
                <a16:creationId xmlns:a16="http://schemas.microsoft.com/office/drawing/2014/main" id="{9FB9BE9B-7973-4C5F-A964-6BC096870D0F}"/>
              </a:ext>
            </a:extLst>
          </p:cNvPr>
          <p:cNvSpPr txBox="1"/>
          <p:nvPr/>
        </p:nvSpPr>
        <p:spPr>
          <a:xfrm>
            <a:off x="7142672" y="5753819"/>
            <a:ext cx="1595886" cy="369332"/>
          </a:xfrm>
          <a:prstGeom prst="rect">
            <a:avLst/>
          </a:prstGeom>
          <a:noFill/>
        </p:spPr>
        <p:txBody>
          <a:bodyPr wrap="square" rtlCol="0">
            <a:spAutoFit/>
          </a:bodyPr>
          <a:lstStyle/>
          <a:p>
            <a:r>
              <a:rPr lang="en-US" dirty="0"/>
              <a:t>Page 2</a:t>
            </a:r>
          </a:p>
        </p:txBody>
      </p:sp>
    </p:spTree>
    <p:extLst>
      <p:ext uri="{BB962C8B-B14F-4D97-AF65-F5344CB8AC3E}">
        <p14:creationId xmlns:p14="http://schemas.microsoft.com/office/powerpoint/2010/main" val="1756450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0879A-BBB7-4564-E481-47120FFCD386}"/>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F4CC9959-27F0-7034-0D8B-653841934A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2004" y="2119642"/>
            <a:ext cx="5063989" cy="2884605"/>
          </a:xfrm>
          <a:prstGeom prst="rect">
            <a:avLst/>
          </a:prstGeom>
        </p:spPr>
      </p:pic>
      <p:sp>
        <p:nvSpPr>
          <p:cNvPr id="6" name="TextBox 5">
            <a:extLst>
              <a:ext uri="{FF2B5EF4-FFF2-40B4-BE49-F238E27FC236}">
                <a16:creationId xmlns:a16="http://schemas.microsoft.com/office/drawing/2014/main" id="{BE63AC7E-0DDE-1996-AF7F-92DF68E193B4}"/>
              </a:ext>
            </a:extLst>
          </p:cNvPr>
          <p:cNvSpPr txBox="1"/>
          <p:nvPr/>
        </p:nvSpPr>
        <p:spPr>
          <a:xfrm>
            <a:off x="1742536" y="5253487"/>
            <a:ext cx="1802921" cy="369332"/>
          </a:xfrm>
          <a:prstGeom prst="rect">
            <a:avLst/>
          </a:prstGeom>
          <a:noFill/>
        </p:spPr>
        <p:txBody>
          <a:bodyPr wrap="square" rtlCol="0">
            <a:spAutoFit/>
          </a:bodyPr>
          <a:lstStyle/>
          <a:p>
            <a:r>
              <a:rPr lang="en-US" dirty="0"/>
              <a:t>Page 3</a:t>
            </a:r>
          </a:p>
        </p:txBody>
      </p:sp>
      <p:pic>
        <p:nvPicPr>
          <p:cNvPr id="8" name="Picture 7">
            <a:extLst>
              <a:ext uri="{FF2B5EF4-FFF2-40B4-BE49-F238E27FC236}">
                <a16:creationId xmlns:a16="http://schemas.microsoft.com/office/drawing/2014/main" id="{43F604B9-48A7-8135-3A1E-9CBA79695B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2061" y="2092016"/>
            <a:ext cx="5352793" cy="2912231"/>
          </a:xfrm>
          <a:prstGeom prst="rect">
            <a:avLst/>
          </a:prstGeom>
        </p:spPr>
      </p:pic>
      <p:sp>
        <p:nvSpPr>
          <p:cNvPr id="9" name="TextBox 8">
            <a:extLst>
              <a:ext uri="{FF2B5EF4-FFF2-40B4-BE49-F238E27FC236}">
                <a16:creationId xmlns:a16="http://schemas.microsoft.com/office/drawing/2014/main" id="{1C88539E-7104-94F7-F70E-C98B7E49D82D}"/>
              </a:ext>
            </a:extLst>
          </p:cNvPr>
          <p:cNvSpPr txBox="1"/>
          <p:nvPr/>
        </p:nvSpPr>
        <p:spPr>
          <a:xfrm>
            <a:off x="7461849" y="5322498"/>
            <a:ext cx="1725283" cy="369332"/>
          </a:xfrm>
          <a:prstGeom prst="rect">
            <a:avLst/>
          </a:prstGeom>
          <a:noFill/>
        </p:spPr>
        <p:txBody>
          <a:bodyPr wrap="square" rtlCol="0">
            <a:spAutoFit/>
          </a:bodyPr>
          <a:lstStyle/>
          <a:p>
            <a:r>
              <a:rPr lang="en-US" dirty="0"/>
              <a:t>Page 4</a:t>
            </a:r>
          </a:p>
        </p:txBody>
      </p:sp>
    </p:spTree>
    <p:extLst>
      <p:ext uri="{BB962C8B-B14F-4D97-AF65-F5344CB8AC3E}">
        <p14:creationId xmlns:p14="http://schemas.microsoft.com/office/powerpoint/2010/main" val="695052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CFD0-8EBD-0AA9-8007-49C95C51600B}"/>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E7F2059-2180-6468-FBF9-2E69DAAA634D}"/>
              </a:ext>
            </a:extLst>
          </p:cNvPr>
          <p:cNvSpPr>
            <a:spLocks noGrp="1"/>
          </p:cNvSpPr>
          <p:nvPr>
            <p:ph idx="1"/>
          </p:nvPr>
        </p:nvSpPr>
        <p:spPr/>
        <p:txBody>
          <a:bodyPr/>
          <a:lstStyle/>
          <a:p>
            <a:r>
              <a:rPr lang="en-US" dirty="0"/>
              <a:t>The Mutual Fund Analytics Platform successfully combined data engineering, financial analytics, and dashboard reporting to analyze mutual fund performance and investor behavior. The project provided meaningful insights through ETL processing, risk analysis, advanced analytics, and interactive Power BI dashboards, supporting informed investment decision-making.</a:t>
            </a:r>
          </a:p>
        </p:txBody>
      </p:sp>
    </p:spTree>
    <p:extLst>
      <p:ext uri="{BB962C8B-B14F-4D97-AF65-F5344CB8AC3E}">
        <p14:creationId xmlns:p14="http://schemas.microsoft.com/office/powerpoint/2010/main" val="391070244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15</TotalTime>
  <Words>424</Words>
  <Application>Microsoft Office PowerPoint</Application>
  <PresentationFormat>Widescreen</PresentationFormat>
  <Paragraphs>90</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Gill Sans MT</vt:lpstr>
      <vt:lpstr>Gallery</vt:lpstr>
      <vt:lpstr>     Mutual Fund Analytics Platform Bluestock Fintech Pvt. Ltd. Data Analyst Internship Capstone Project  </vt:lpstr>
      <vt:lpstr>Problem Statement</vt:lpstr>
      <vt:lpstr>Project Objectives</vt:lpstr>
      <vt:lpstr>Data Sources</vt:lpstr>
      <vt:lpstr>ETL Architecture</vt:lpstr>
      <vt:lpstr>Exploratory Data Analysis (EDA)</vt:lpstr>
      <vt:lpstr>Investor Analytics</vt:lpstr>
      <vt:lpstr>Performance Analytics</vt:lpstr>
      <vt:lpstr>Advanced Analytics</vt:lpstr>
      <vt:lpstr>Dashboard Overview</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 boppana</dc:creator>
  <cp:lastModifiedBy>uma boppana</cp:lastModifiedBy>
  <cp:revision>1</cp:revision>
  <dcterms:created xsi:type="dcterms:W3CDTF">2026-06-12T15:39:00Z</dcterms:created>
  <dcterms:modified xsi:type="dcterms:W3CDTF">2026-06-12T15:54:17Z</dcterms:modified>
</cp:coreProperties>
</file>